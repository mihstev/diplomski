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B3DCC-01AC-5E37-178A-36CABE81D889}" v="248" dt="2026-07-13T23:20:14.969"/>
    <p1510:client id="{38C18EB2-AB02-7D0B-B60D-4D3AE099D97D}" v="24" dt="2026-07-13T23:44:27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C19C9-8062-4BF8-8ED2-FD07659F2B8B}" type="datetimeFigureOut"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12A47-1AD6-4355-BAA2-352013075F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94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[Gledaj publiku, ne slajd.] Ovo su stvarni snimci iz nase simulacije - robot pokusava da umetne konektor u port.</a:t>
            </a:r>
          </a:p>
          <a:p>
            <a:r>
              <a:t>OBECANJE (izgovoriti polako, kontakt ocima): 'Do kraja ovih deset minuta znacete tacno gde vestacka inteligencija staje - i zasto uvek staje na istom mestu, bez obzira na model.'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[Pauza 1-2 sekunde pre nego sto pustis ovaj slajd da progovori.] A evo i snimka gde uspeva.</a:t>
            </a:r>
          </a:p>
          <a:p>
            <a:r>
              <a:t>PITANJE PUBLICI (zastani, sacekaj 2-3 odgovora, ne otkrivaj broj jos): 'Koliko demonstracija mislite da je robotu bilo potrebno da ovo nauci?'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Oracle politika - skriptovani agent sa privilegovanim pristupom koordinatama 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Iz uspesnih epizoda oracle-a gradi se skup demonstracija.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Ovde je nasa podela rada - Dobrica demonstracije, mi trening.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 treniramo i evaluiramo - politika vise NEMA privilegovan pristup, uci samo iz slike i pozicije.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[Kontakt ocima, pauza pre reci 'GRANICA'.] Naslov rada kaze: ispitujemo GRANICU ucenja imitacijama. Ovo je ta granica koju cemo danas pronaci zajedno - zovem je 'poslednji milimetar'.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DLO problem - kabl nema fiksnu geometriju, za razliku od krutog umetka.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Ovde je moja specificna kontribucija - ne izum novih metoda, vec prva kontrolisana uporedna studija ove dve arhitekture bas na ovom zadatku.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[Namerno gust slajd - ne ocekujte da svi prate svaki detalj, samo pokazite strukturu, publika treba da OSETI kompleksnost, ne da je razume do kraja.]</a:t>
            </a:r>
          </a:p>
          <a:p>
            <a:endParaRPr/>
          </a:p>
          <a:p>
            <a:r>
              <a:t>ACT (gore): 4 kamere -&gt; CNN izvlaci vizuelne odlike -&gt; transformer enkoder ih kombinuje sa pozicijom zglobova -&gt; dekoder predvidja CEO BLOK buducih akcija odjednom (ne jednu po jednu). CVAE (stil 'z') levo postoji samo tokom treninga da uhvati razlicite stilove izvodjenja iz demonstracija.</a:t>
            </a:r>
          </a:p>
          <a:p>
            <a:endParaRPr/>
          </a:p>
          <a:p>
            <a:r>
              <a:t>Diffusion Policy (dole): suprotna logika - krene od CISTOG SUMA (A^K, levo dole u tackicama) i iterativno ga 'ocisti' u K koraka do glatke putanje akcija (A^0, desno, uokvireno). Svaki korak ciscenja je uslovljen slikom kamere - FiLM (CNN varijanta, b) ili unakrsna paznja (transformer varijanta, c).</a:t>
            </a:r>
          </a:p>
          <a:p>
            <a:endParaRPr/>
          </a:p>
          <a:p>
            <a:r>
              <a:t>Poenta za publiku: ACT donosi ODLUKU odjednom (jedan blok), DP je PROCES prociscavanja kroz vreme - dva potpuno razlicita nacina da se dodje do iste akcije.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Prvo dobra vest - bocno smo skoro tacno na osi 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OVDE JE ODGOVOR na pitanje sa pocetka: 30.290 demonstracija. I dalje ispod 1% uspesnosti. Sad zastani - ovo je twist pre iznenadjenja.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[Pusti ovo da 'legne' - napravi pauzu posle citanja poslednje recenice.]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[Cutis dok se ovo pusta - ne pricaj preko snimka. Pusti da odigra dva puta pa nastavi.] Ovo je dokaz da uspeh nije nemoguc - samo krajnje redak.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Zavrsna rec - hvala se kaze usmeno, slajd ostaje otvoren dok traju pitanja.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lip_ac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765" y="685800"/>
            <a:ext cx="3469202" cy="4937760"/>
          </a:xfrm>
          <a:prstGeom prst="rect">
            <a:avLst/>
          </a:prstGeom>
        </p:spPr>
      </p:pic>
      <p:pic>
        <p:nvPicPr>
          <p:cNvPr id="4" name="Picture 3" descr="clip_wav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685800"/>
            <a:ext cx="3469202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Arial"/>
              </a:rPr>
              <a:t>Михајло Стевановић   ·   Лабораторија за роботику ЕТФ  ·  Intrinsic AI for Industry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lip_chea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268" y="365760"/>
            <a:ext cx="398315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pelin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7" y="1071833"/>
            <a:ext cx="10241280" cy="3159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Arial"/>
              </a:rPr>
              <a:t>Демонстрације: Добрица Јанковић   ·   Ментори: проф. др Коста Јовановић, Давид Сеничић, др Филип Бечановић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peli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7" y="1071833"/>
            <a:ext cx="10241280" cy="3159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Arial"/>
              </a:rPr>
              <a:t>Демонстрације: Добрица Јанковић   ·   Ментори: проф. др Коста Јовановић, Давид Сеничић, др Филип Бечановић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pelin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7" y="1071833"/>
            <a:ext cx="10241280" cy="3159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Arial"/>
              </a:rPr>
              <a:t>Демонстрације: Добрица Јанковић   ·   Ментори: проф. др Коста Јовановић, Давид Сеничић, др Филип Бечановић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pelin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7" y="1071833"/>
            <a:ext cx="10241280" cy="3159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627260"/>
            <a:ext cx="10698480" cy="7124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az-Cyrl-AZ" sz="4400" b="1" dirty="0">
                <a:solidFill>
                  <a:srgbClr val="FF7A45"/>
                </a:solidFill>
                <a:latin typeface="Arial"/>
              </a:rPr>
              <a:t>Циљ је да робот</a:t>
            </a:r>
            <a:r>
              <a:rPr lang="en-US" sz="4400" b="1" dirty="0">
                <a:solidFill>
                  <a:srgbClr val="FF7A45"/>
                </a:solidFill>
                <a:latin typeface="Arial"/>
              </a:rPr>
              <a:t> </a:t>
            </a:r>
            <a:r>
              <a:rPr lang="az-Cyrl-AZ" sz="4400" b="1" dirty="0">
                <a:solidFill>
                  <a:srgbClr val="FF7A45"/>
                </a:solidFill>
                <a:latin typeface="Arial"/>
              </a:rPr>
              <a:t>сам</a:t>
            </a:r>
            <a:r>
              <a:rPr sz="4400" b="1" i="0" dirty="0">
                <a:solidFill>
                  <a:srgbClr val="FF7A45"/>
                </a:solidFill>
                <a:latin typeface="Arial"/>
              </a:rPr>
              <a:t> </a:t>
            </a:r>
            <a:r>
              <a:rPr sz="4400" b="1" i="0" dirty="0" err="1">
                <a:solidFill>
                  <a:srgbClr val="FF7A45"/>
                </a:solidFill>
                <a:latin typeface="Arial"/>
              </a:rPr>
              <a:t>пронађе</a:t>
            </a:r>
            <a:r>
              <a:rPr sz="4400" b="1" i="0" dirty="0">
                <a:solidFill>
                  <a:srgbClr val="FF7A45"/>
                </a:solidFill>
                <a:latin typeface="Arial"/>
              </a:rPr>
              <a:t> </a:t>
            </a:r>
            <a:r>
              <a:rPr sz="4400" b="1" i="0" dirty="0" err="1">
                <a:solidFill>
                  <a:srgbClr val="FF7A45"/>
                </a:solidFill>
                <a:latin typeface="Arial"/>
              </a:rPr>
              <a:t>пут</a:t>
            </a:r>
            <a:endParaRPr lang="en-US" sz="4400" b="1" i="0" dirty="0" err="1">
              <a:solidFill>
                <a:srgbClr val="FF7A45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Arial"/>
              </a:rPr>
              <a:t>Демонстрације: Добрица Јанковић   ·   Ментори: проф. др Коста Јовановић, Давид Сеничић, др Филип Бечановић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ymbol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647" y="9144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098629"/>
            <a:ext cx="10698480" cy="8095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0" b="1" i="0">
                <a:solidFill>
                  <a:srgbClr val="FF7A45"/>
                </a:solidFill>
                <a:latin typeface="Arial"/>
              </a:rPr>
              <a:t>ГРАНИЦА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1">
                <a:solidFill>
                  <a:srgbClr val="9CA3AF"/>
                </a:solidFill>
                <a:latin typeface="Arial"/>
              </a:rPr>
              <a:t>„последњи милиметар”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ymbol_ring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365760"/>
            <a:ext cx="502920" cy="502920"/>
          </a:xfrm>
          <a:prstGeom prst="rect">
            <a:avLst/>
          </a:prstGeom>
        </p:spPr>
      </p:pic>
      <p:pic>
        <p:nvPicPr>
          <p:cNvPr id="4" name="Picture 3" descr="rigid_vs_deform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550" y="623058"/>
            <a:ext cx="8412480" cy="38643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4491" y="4949406"/>
            <a:ext cx="11808823" cy="14832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dirty="0" err="1">
                <a:solidFill>
                  <a:srgbClr val="F5F6F8"/>
                </a:solidFill>
                <a:latin typeface="Arial"/>
              </a:rPr>
              <a:t>Кабл</a:t>
            </a:r>
            <a:r>
              <a:rPr sz="44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sz="4400" b="1" i="0" dirty="0" err="1">
                <a:solidFill>
                  <a:srgbClr val="F5F6F8"/>
                </a:solidFill>
                <a:latin typeface="Arial"/>
              </a:rPr>
              <a:t>није</a:t>
            </a:r>
            <a:r>
              <a:rPr sz="44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lang="az-Cyrl-AZ" sz="4400" b="1" dirty="0">
                <a:solidFill>
                  <a:srgbClr val="F5F6F8"/>
                </a:solidFill>
                <a:latin typeface="Arial"/>
              </a:rPr>
              <a:t>крут</a:t>
            </a:r>
            <a:endParaRPr lang="en-US" sz="4000" dirty="0">
              <a:solidFill>
                <a:srgbClr val="9CA3AF"/>
              </a:solidFill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lang="az-Cyrl-AZ" sz="4000" dirty="0">
                <a:solidFill>
                  <a:srgbClr val="9CA3AF"/>
                </a:solidFill>
                <a:latin typeface="Arial"/>
              </a:rPr>
              <a:t>Свака</a:t>
            </a:r>
            <a:r>
              <a:rPr sz="40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9CA3AF"/>
                </a:solidFill>
                <a:latin typeface="Arial"/>
              </a:rPr>
              <a:t>грешка</a:t>
            </a:r>
            <a:r>
              <a:rPr sz="40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9CA3AF"/>
                </a:solidFill>
                <a:latin typeface="Arial"/>
              </a:rPr>
              <a:t>изнад</a:t>
            </a:r>
            <a:r>
              <a:rPr lang="en-US" sz="4000" dirty="0">
                <a:solidFill>
                  <a:srgbClr val="9CA3AF"/>
                </a:solidFill>
                <a:latin typeface="Arial"/>
              </a:rPr>
              <a:t> </a:t>
            </a:r>
            <a:r>
              <a:rPr lang="az-Cyrl-AZ" sz="4000" dirty="0">
                <a:solidFill>
                  <a:srgbClr val="9CA3AF"/>
                </a:solidFill>
                <a:latin typeface="Arial"/>
              </a:rPr>
              <a:t>пар милиметара</a:t>
            </a:r>
            <a:r>
              <a:rPr sz="40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9CA3AF"/>
                </a:solidFill>
                <a:latin typeface="Arial"/>
              </a:rPr>
              <a:t>је</a:t>
            </a:r>
            <a:r>
              <a:rPr sz="40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9CA3AF"/>
                </a:solidFill>
                <a:latin typeface="Arial"/>
              </a:rPr>
              <a:t>промашај</a:t>
            </a:r>
            <a:endParaRPr lang="en-US" sz="4000" b="0" i="0" dirty="0">
              <a:solidFill>
                <a:srgbClr val="9CA3A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ymbol_ring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365760"/>
            <a:ext cx="502920" cy="502920"/>
          </a:xfrm>
          <a:prstGeom prst="rect">
            <a:avLst/>
          </a:prstGeom>
        </p:spPr>
      </p:pic>
      <p:pic>
        <p:nvPicPr>
          <p:cNvPr id="4" name="Picture 3" descr="act_vs_d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607" y="170938"/>
            <a:ext cx="8412480" cy="38643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04972"/>
            <a:ext cx="11064240" cy="18941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 dirty="0">
                <a:solidFill>
                  <a:srgbClr val="F5F6F8"/>
                </a:solidFill>
                <a:latin typeface="Arial"/>
              </a:rPr>
              <a:t>Прва </a:t>
            </a:r>
            <a:r>
              <a:rPr sz="4000" b="1" i="0" dirty="0" err="1">
                <a:solidFill>
                  <a:srgbClr val="F5F6F8"/>
                </a:solidFill>
                <a:latin typeface="Arial"/>
              </a:rPr>
              <a:t>контролисана</a:t>
            </a:r>
            <a:r>
              <a:rPr sz="40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F5F6F8"/>
                </a:solidFill>
                <a:latin typeface="Arial"/>
              </a:rPr>
              <a:t>студија</a:t>
            </a:r>
            <a:endParaRPr lang="en-US" sz="4000" b="1" i="0" dirty="0">
              <a:solidFill>
                <a:srgbClr val="F5F6F8"/>
              </a:solidFill>
              <a:latin typeface="Arial"/>
              <a:cs typeface="Arial"/>
            </a:endParaRPr>
          </a:p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5B8DEF"/>
                </a:solidFill>
                <a:latin typeface="Arial"/>
              </a:rPr>
              <a:t>ACT</a:t>
            </a:r>
            <a:r>
              <a:rPr sz="4000" b="1" i="0">
                <a:solidFill>
                  <a:srgbClr val="F5F6F8"/>
                </a:solidFill>
                <a:latin typeface="Arial"/>
              </a:rPr>
              <a:t> и </a:t>
            </a:r>
            <a:r>
              <a:rPr sz="4000" b="1" i="0">
                <a:solidFill>
                  <a:srgbClr val="FF7A45"/>
                </a:solidFill>
                <a:latin typeface="Arial"/>
              </a:rPr>
              <a:t>Diffusion Policy</a:t>
            </a:r>
          </a:p>
          <a:p>
            <a:pPr algn="ctr">
              <a:lnSpc>
                <a:spcPct val="105000"/>
              </a:lnSpc>
            </a:pPr>
            <a:r>
              <a:rPr sz="4000" b="1" i="0" dirty="0" err="1">
                <a:solidFill>
                  <a:srgbClr val="F5F6F8"/>
                </a:solidFill>
                <a:latin typeface="Arial"/>
              </a:rPr>
              <a:t>на</a:t>
            </a:r>
            <a:r>
              <a:rPr sz="40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F5F6F8"/>
                </a:solidFill>
                <a:latin typeface="Arial"/>
              </a:rPr>
              <a:t>задатку</a:t>
            </a:r>
            <a:r>
              <a:rPr sz="40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F5F6F8"/>
                </a:solidFill>
                <a:latin typeface="Arial"/>
              </a:rPr>
              <a:t>милиметарске</a:t>
            </a:r>
            <a:r>
              <a:rPr sz="40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F5F6F8"/>
                </a:solidFill>
                <a:latin typeface="Arial"/>
              </a:rPr>
              <a:t>прецизности</a:t>
            </a:r>
            <a:endParaRPr sz="4000" b="1" i="0" dirty="0" err="1">
              <a:solidFill>
                <a:srgbClr val="F5F6F8"/>
              </a:solidFill>
              <a:latin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Arial"/>
              </a:rPr>
              <a:t>Иста симулација  ·  исте демонстрације  ·  исти протокол евалуације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B8DEF"/>
                </a:solidFill>
                <a:latin typeface="Arial"/>
              </a:rPr>
              <a:t>ACT</a:t>
            </a:r>
          </a:p>
        </p:txBody>
      </p:sp>
      <p:pic>
        <p:nvPicPr>
          <p:cNvPr id="4" name="Picture 3" descr="act_arhitektura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811017"/>
            <a:ext cx="9692640" cy="26756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7947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7A45"/>
                </a:solidFill>
                <a:latin typeface="Arial"/>
              </a:rPr>
              <a:t>Diffusion Policy</a:t>
            </a:r>
          </a:p>
        </p:txBody>
      </p:sp>
      <p:pic>
        <p:nvPicPr>
          <p:cNvPr id="6" name="Picture 5" descr="dp_arhitektura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407" y="4141579"/>
            <a:ext cx="9326880" cy="25982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5F6F8"/>
                </a:solidFill>
                <a:latin typeface="Arial"/>
              </a:rPr>
              <a:t>КАКО ИЗГЛЕДА ИНЖЕЊЕРСКИ ПОСТУПАК.</a:t>
            </a:r>
          </a:p>
        </p:txBody>
      </p:sp>
      <p:pic>
        <p:nvPicPr>
          <p:cNvPr id="4" name="Picture 3" descr="steps_circ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4884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72200" y="306324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7A45"/>
                </a:solidFill>
                <a:latin typeface="Arial"/>
              </a:rPr>
              <a:t>1  ШТА треба урадити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11480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9CA3AF"/>
                </a:solidFill>
                <a:latin typeface="Arial"/>
              </a:rPr>
              <a:t>задатак: уметање конектора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5F6F8"/>
                </a:solidFill>
                <a:latin typeface="Arial"/>
              </a:rPr>
              <a:t>КАКО ИЗГЛЕДА ИНЖЕЊЕРСКИ ПОСТУПАК.</a:t>
            </a:r>
          </a:p>
        </p:txBody>
      </p:sp>
      <p:pic>
        <p:nvPicPr>
          <p:cNvPr id="4" name="Picture 3" descr="steps_circ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4884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72200" y="306324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7A45"/>
                </a:solidFill>
                <a:latin typeface="Arial"/>
              </a:rPr>
              <a:t>2  ПОНАШАЊЕ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11480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9CA3AF"/>
                </a:solidFill>
                <a:latin typeface="Arial"/>
              </a:rPr>
              <a:t>прилазак → поравнање → уметање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5F6F8"/>
                </a:solidFill>
                <a:latin typeface="Arial"/>
              </a:rPr>
              <a:t>КАКО ИЗГЛЕДА ИНЖЕЊЕРСКИ ПОСТУПАК.</a:t>
            </a:r>
          </a:p>
        </p:txBody>
      </p:sp>
      <p:pic>
        <p:nvPicPr>
          <p:cNvPr id="4" name="Picture 3" descr="steps_circ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4884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72200" y="3421402"/>
            <a:ext cx="5577840" cy="64767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7A45"/>
                </a:solidFill>
                <a:latin typeface="Arial"/>
              </a:rPr>
              <a:t>3  </a:t>
            </a:r>
            <a:r>
              <a:rPr lang="az-Cyrl-AZ" sz="4000" b="1">
                <a:solidFill>
                  <a:srgbClr val="FF7A45"/>
                </a:solidFill>
                <a:latin typeface="Arial"/>
              </a:rPr>
              <a:t>ОГРАНИЧЕЊА</a:t>
            </a:r>
            <a:endParaRPr sz="4000" b="1" i="0">
              <a:solidFill>
                <a:srgbClr val="FF7A45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72200" y="411480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9CA3AF"/>
                </a:solidFill>
                <a:latin typeface="Arial"/>
              </a:rPr>
              <a:t>прецизност &lt; 3mm, деформабилан кабл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5F6F8"/>
                </a:solidFill>
                <a:latin typeface="Arial"/>
              </a:rPr>
              <a:t>КАКО ИЗГЛЕДА ИНЖЕЊЕРСКИ ПОСТУПАК.</a:t>
            </a:r>
          </a:p>
        </p:txBody>
      </p:sp>
      <p:pic>
        <p:nvPicPr>
          <p:cNvPr id="4" name="Picture 3" descr="steps_circl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4884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72200" y="306324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7A45"/>
                </a:solidFill>
                <a:latin typeface="Arial"/>
              </a:rPr>
              <a:t>4  ИМПЛЕМЕНТАЦИЈА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11480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9CA3AF"/>
                </a:solidFill>
                <a:latin typeface="Arial"/>
              </a:rPr>
              <a:t>изградити и демонстрирати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120" y="5758813"/>
            <a:ext cx="10698480" cy="8481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За</a:t>
            </a:r>
            <a:r>
              <a:rPr lang="en-US" sz="2600" i="1" dirty="0">
                <a:solidFill>
                  <a:srgbClr val="9CA3AF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инжењера</a:t>
            </a:r>
            <a:r>
              <a:rPr lang="en-US" sz="2600" i="1" dirty="0">
                <a:solidFill>
                  <a:srgbClr val="9CA3AF"/>
                </a:solidFill>
                <a:latin typeface="Arial"/>
                <a:ea typeface="+mn-lt"/>
                <a:cs typeface="Arial"/>
              </a:rPr>
              <a:t>, </a:t>
            </a:r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знање</a:t>
            </a:r>
            <a:r>
              <a:rPr lang="en-US" sz="2600" i="1" dirty="0">
                <a:solidFill>
                  <a:srgbClr val="9CA3AF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није</a:t>
            </a:r>
            <a:r>
              <a:rPr lang="en-US" sz="2600" i="1" dirty="0">
                <a:solidFill>
                  <a:srgbClr val="9CA3AF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ствар</a:t>
            </a:r>
            <a:r>
              <a:rPr lang="en-US" sz="2600" i="1" dirty="0">
                <a:solidFill>
                  <a:srgbClr val="9CA3AF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веровања</a:t>
            </a:r>
            <a:r>
              <a:rPr lang="en-US" sz="2600" i="1" dirty="0">
                <a:solidFill>
                  <a:srgbClr val="9CA3AF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већ</a:t>
            </a:r>
            <a:r>
              <a:rPr lang="en-US" sz="2600" i="1" dirty="0">
                <a:solidFill>
                  <a:srgbClr val="9CA3AF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доказа</a:t>
            </a:r>
            <a:r>
              <a:rPr lang="en-US" sz="2600" i="1" dirty="0">
                <a:solidFill>
                  <a:srgbClr val="9CA3AF"/>
                </a:solidFill>
                <a:latin typeface="Arial"/>
                <a:ea typeface="+mn-lt"/>
                <a:cs typeface="Arial"/>
              </a:rPr>
              <a:t> -</a:t>
            </a:r>
            <a:endParaRPr lang="en-US" i="1" dirty="0">
              <a:latin typeface="Arial"/>
              <a:ea typeface="+mn-lt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направити</a:t>
            </a:r>
            <a:r>
              <a:rPr lang="en-US" sz="2600" i="1" dirty="0">
                <a:solidFill>
                  <a:srgbClr val="9CA3AF"/>
                </a:solidFill>
                <a:latin typeface="Arial"/>
                <a:ea typeface="+mn-lt"/>
                <a:cs typeface="Arial"/>
              </a:rPr>
              <a:t>, </a:t>
            </a:r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тестирати</a:t>
            </a:r>
            <a:r>
              <a:rPr lang="en-US" sz="2600" i="1" dirty="0">
                <a:solidFill>
                  <a:srgbClr val="9CA3AF"/>
                </a:solidFill>
                <a:latin typeface="Arial"/>
                <a:ea typeface="+mn-lt"/>
                <a:cs typeface="Arial"/>
              </a:rPr>
              <a:t>, </a:t>
            </a:r>
            <a:r>
              <a:rPr lang="en-US" sz="2600" i="1" dirty="0" err="1">
                <a:solidFill>
                  <a:srgbClr val="9CA3AF"/>
                </a:solidFill>
                <a:latin typeface="Arial"/>
                <a:ea typeface="+mn-lt"/>
                <a:cs typeface="Arial"/>
              </a:rPr>
              <a:t>показати</a:t>
            </a:r>
            <a:endParaRPr lang="en-US" i="1" dirty="0" err="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ymbol_ring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36576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F7A45"/>
                </a:solidFill>
                <a:latin typeface="Arial"/>
              </a:rPr>
              <a:t>9,1 mm</a:t>
            </a:r>
            <a:r>
              <a:rPr sz="4000" b="1" i="0">
                <a:solidFill>
                  <a:srgbClr val="F5F6F8"/>
                </a:solidFill>
                <a:latin typeface="Arial"/>
              </a:rPr>
              <a:t>  бочно одступање.</a:t>
            </a:r>
          </a:p>
        </p:txBody>
      </p:sp>
      <p:pic>
        <p:nvPicPr>
          <p:cNvPr id="5" name="Picture 4" descr="lateral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007" y="1828799"/>
            <a:ext cx="429768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 i="0">
                <a:solidFill>
                  <a:srgbClr val="9CA3AF"/>
                </a:solidFill>
                <a:latin typeface="Arial"/>
              </a:rPr>
              <a:t>Скоро на оси порта.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ymbol_ring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36576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5F6F8"/>
                </a:solidFill>
                <a:latin typeface="Arial"/>
              </a:rPr>
              <a:t>Довољно је да промашимо бочно - и стајемо на </a:t>
            </a:r>
            <a:r>
              <a:rPr sz="4000" b="1" i="0">
                <a:solidFill>
                  <a:srgbClr val="FF7A45"/>
                </a:solidFill>
                <a:latin typeface="Arial"/>
              </a:rPr>
              <a:t>47 mm</a:t>
            </a:r>
            <a:r>
              <a:rPr sz="4000" b="1" i="0">
                <a:solidFill>
                  <a:srgbClr val="F5F6F8"/>
                </a:solidFill>
                <a:latin typeface="Arial"/>
              </a:rPr>
              <a:t>.</a:t>
            </a:r>
          </a:p>
        </p:txBody>
      </p:sp>
      <p:pic>
        <p:nvPicPr>
          <p:cNvPr id="5" name="Picture 4" descr="plateau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727" y="1217365"/>
            <a:ext cx="8778240" cy="51547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636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7A45"/>
                </a:solidFill>
                <a:latin typeface="Arial"/>
              </a:rPr>
              <a:t>0,7–1,3</a:t>
            </a:r>
            <a:r>
              <a:rPr sz="3400" b="0" i="0">
                <a:solidFill>
                  <a:srgbClr val="9CA3AF"/>
                </a:solidFill>
                <a:latin typeface="Arial"/>
              </a:rPr>
              <a:t> % успешности.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urprise_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1480"/>
            <a:ext cx="6035040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412206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5555A"/>
                </a:solidFill>
                <a:latin typeface="Arial"/>
              </a:rPr>
              <a:t>ИЗНЕНАЂЕЊЕ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826829"/>
            <a:ext cx="4937760" cy="235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 dirty="0" err="1">
                <a:solidFill>
                  <a:srgbClr val="F5F6F8"/>
                </a:solidFill>
                <a:latin typeface="Arial"/>
              </a:rPr>
              <a:t>Различите</a:t>
            </a:r>
            <a:r>
              <a:rPr sz="34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sz="3400" b="1" i="0" dirty="0" err="1">
                <a:solidFill>
                  <a:srgbClr val="F5F6F8"/>
                </a:solidFill>
                <a:latin typeface="Arial"/>
              </a:rPr>
              <a:t>архитектуре</a:t>
            </a:r>
            <a:endParaRPr lang="en-US" sz="3400" b="1" i="0" dirty="0" err="1">
              <a:solidFill>
                <a:srgbClr val="F5F6F8"/>
              </a:solidFill>
              <a:latin typeface="Arial"/>
              <a:cs typeface="Arial"/>
            </a:endParaRPr>
          </a:p>
          <a:p>
            <a:pPr>
              <a:lnSpc>
                <a:spcPct val="115000"/>
              </a:lnSpc>
            </a:pPr>
            <a:r>
              <a:rPr lang="az-Cyrl-AZ" sz="3400" b="1">
                <a:solidFill>
                  <a:srgbClr val="FF7A45"/>
                </a:solidFill>
                <a:latin typeface="Arial"/>
              </a:rPr>
              <a:t>Иста бочна грешка </a:t>
            </a:r>
            <a:r>
              <a:rPr lang="az-Cyrl-AZ" sz="3400" b="1" dirty="0">
                <a:solidFill>
                  <a:srgbClr val="FF7A45"/>
                </a:solidFill>
                <a:latin typeface="Arial"/>
              </a:rPr>
              <a:t>Исти зид</a:t>
            </a:r>
            <a:r>
              <a:rPr sz="3400" b="1" i="0" dirty="0">
                <a:solidFill>
                  <a:srgbClr val="FF7A45"/>
                </a:solidFill>
                <a:latin typeface="Arial"/>
              </a:rPr>
              <a:t>.</a:t>
            </a:r>
            <a:endParaRPr sz="4000" b="1" i="0" dirty="0">
              <a:solidFill>
                <a:srgbClr val="FF7A45"/>
              </a:solidFill>
              <a:latin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3063240"/>
            <a:ext cx="502920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000" b="1" i="0" dirty="0">
                <a:solidFill>
                  <a:srgbClr val="5B8DEF"/>
                </a:solidFill>
                <a:latin typeface="Arial"/>
              </a:rPr>
              <a:t>ACT</a:t>
            </a:r>
            <a:r>
              <a:rPr sz="2000" b="0" i="0" dirty="0">
                <a:solidFill>
                  <a:srgbClr val="9CA3AF"/>
                </a:solidFill>
                <a:latin typeface="Arial"/>
              </a:rPr>
              <a:t> и </a:t>
            </a:r>
            <a:r>
              <a:rPr sz="2000" b="1" i="0" dirty="0">
                <a:solidFill>
                  <a:srgbClr val="FF7A45"/>
                </a:solidFill>
                <a:latin typeface="Arial"/>
              </a:rPr>
              <a:t>Diffusion Policy</a:t>
            </a:r>
            <a:r>
              <a:rPr sz="2000" b="0" i="0" dirty="0">
                <a:solidFill>
                  <a:srgbClr val="9CA3AF"/>
                </a:solidFill>
                <a:latin typeface="Arial"/>
              </a:rPr>
              <a:t>, </a:t>
            </a:r>
            <a:endParaRPr lang="en-US" sz="2600" dirty="0">
              <a:solidFill>
                <a:srgbClr val="9CA3AF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az-Cyrl-AZ" sz="2000" dirty="0">
                <a:solidFill>
                  <a:srgbClr val="9CA3AF"/>
                </a:solidFill>
                <a:latin typeface="Arial"/>
              </a:rPr>
              <a:t>промашују бочно на исти начин, </a:t>
            </a:r>
            <a:r>
              <a:rPr sz="2000" b="0" i="0" dirty="0" err="1">
                <a:solidFill>
                  <a:srgbClr val="9CA3AF"/>
                </a:solidFill>
                <a:latin typeface="Arial"/>
              </a:rPr>
              <a:t>па стану</a:t>
            </a:r>
            <a:r>
              <a:rPr sz="20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9CA3AF"/>
                </a:solidFill>
                <a:latin typeface="Arial"/>
              </a:rPr>
              <a:t>на</a:t>
            </a:r>
            <a:r>
              <a:rPr sz="20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9CA3AF"/>
                </a:solidFill>
                <a:latin typeface="Arial"/>
              </a:rPr>
              <a:t>истих</a:t>
            </a:r>
            <a:r>
              <a:rPr sz="20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2000" b="1" i="0" dirty="0">
                <a:solidFill>
                  <a:srgbClr val="F5F6F8"/>
                </a:solidFill>
                <a:latin typeface="Arial"/>
              </a:rPr>
              <a:t>~</a:t>
            </a:r>
            <a:r>
              <a:rPr lang="en-US" sz="2000" b="1" dirty="0">
                <a:solidFill>
                  <a:srgbClr val="F5F6F8"/>
                </a:solidFill>
                <a:latin typeface="Arial"/>
              </a:rPr>
              <a:t> 47 mm</a:t>
            </a:r>
            <a:endParaRPr lang="en-US" sz="2600" b="0" i="0" dirty="0">
              <a:solidFill>
                <a:srgbClr val="9CA3AF"/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sz="2000" b="1" i="0" dirty="0" err="1">
                <a:solidFill>
                  <a:srgbClr val="F5F6F8"/>
                </a:solidFill>
                <a:latin typeface="Arial"/>
              </a:rPr>
              <a:t>Проблем</a:t>
            </a:r>
            <a:r>
              <a:rPr sz="20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F5F6F8"/>
                </a:solidFill>
                <a:latin typeface="Arial"/>
              </a:rPr>
              <a:t>није</a:t>
            </a:r>
            <a:r>
              <a:rPr sz="20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lang="az-Cyrl-AZ" sz="2000" b="1" dirty="0">
                <a:solidFill>
                  <a:srgbClr val="F5F6F8"/>
                </a:solidFill>
                <a:latin typeface="Arial"/>
              </a:rPr>
              <a:t>у избору архитектуре</a:t>
            </a:r>
            <a:r>
              <a:rPr sz="2000" b="1" i="0" dirty="0">
                <a:solidFill>
                  <a:srgbClr val="F5F6F8"/>
                </a:solidFill>
                <a:latin typeface="Arial"/>
              </a:rPr>
              <a:t>. </a:t>
            </a:r>
            <a:endParaRPr lang="en-US" sz="2600" b="1" dirty="0" err="1">
              <a:solidFill>
                <a:srgbClr val="F5F6F8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US" sz="2000" b="1" i="0" dirty="0" err="1">
                <a:solidFill>
                  <a:srgbClr val="F5F6F8"/>
                </a:solidFill>
                <a:latin typeface="Arial"/>
                <a:ea typeface="+mn-lt"/>
                <a:cs typeface="Arial"/>
              </a:rPr>
              <a:t>Проблем</a:t>
            </a:r>
            <a:r>
              <a:rPr lang="en-US" sz="2000" b="1" i="0" dirty="0">
                <a:solidFill>
                  <a:srgbClr val="F5F6F8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000" b="1" i="0" dirty="0" err="1">
                <a:solidFill>
                  <a:srgbClr val="F5F6F8"/>
                </a:solidFill>
                <a:latin typeface="Arial"/>
                <a:ea typeface="+mn-lt"/>
                <a:cs typeface="Arial"/>
              </a:rPr>
              <a:t>је</a:t>
            </a:r>
            <a:r>
              <a:rPr lang="en-US" sz="2000" b="1" i="0" dirty="0">
                <a:solidFill>
                  <a:srgbClr val="F5F6F8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000" b="1" dirty="0" err="1">
                <a:solidFill>
                  <a:srgbClr val="F5F6F8"/>
                </a:solidFill>
                <a:latin typeface="Arial"/>
                <a:ea typeface="+mn-lt"/>
                <a:cs typeface="Arial"/>
              </a:rPr>
              <a:t>ослањање</a:t>
            </a:r>
            <a:r>
              <a:rPr lang="en-US" sz="2000" b="1" dirty="0">
                <a:solidFill>
                  <a:srgbClr val="F5F6F8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000" b="1" dirty="0" err="1">
                <a:solidFill>
                  <a:srgbClr val="F5F6F8"/>
                </a:solidFill>
                <a:latin typeface="Arial"/>
                <a:ea typeface="+mn-lt"/>
                <a:cs typeface="Arial"/>
              </a:rPr>
              <a:t>искључиво</a:t>
            </a:r>
            <a:r>
              <a:rPr lang="en-US" sz="2000" b="1" dirty="0">
                <a:solidFill>
                  <a:srgbClr val="F5F6F8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000" b="1" dirty="0" err="1">
                <a:solidFill>
                  <a:srgbClr val="F5F6F8"/>
                </a:solidFill>
                <a:latin typeface="Arial"/>
                <a:ea typeface="+mn-lt"/>
                <a:cs typeface="Arial"/>
              </a:rPr>
              <a:t>на</a:t>
            </a:r>
            <a:r>
              <a:rPr lang="en-US" sz="2000" b="1" dirty="0">
                <a:solidFill>
                  <a:srgbClr val="F5F6F8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000" b="1" dirty="0" err="1">
                <a:solidFill>
                  <a:srgbClr val="F5F6F8"/>
                </a:solidFill>
                <a:latin typeface="Arial"/>
                <a:ea typeface="+mn-lt"/>
                <a:cs typeface="Arial"/>
              </a:rPr>
              <a:t>чист</a:t>
            </a:r>
            <a:r>
              <a:rPr lang="en-US" sz="2000" b="1" dirty="0">
                <a:solidFill>
                  <a:srgbClr val="F5F6F8"/>
                </a:solidFill>
                <a:latin typeface="Arial"/>
                <a:ea typeface="+mn-lt"/>
                <a:cs typeface="Arial"/>
              </a:rPr>
              <a:t> ИЛ, </a:t>
            </a:r>
            <a:r>
              <a:rPr lang="en-US" sz="2000" b="1" dirty="0" err="1">
                <a:solidFill>
                  <a:srgbClr val="F5F6F8"/>
                </a:solidFill>
                <a:latin typeface="Arial"/>
                <a:ea typeface="+mn-lt"/>
                <a:cs typeface="Arial"/>
              </a:rPr>
              <a:t>без</a:t>
            </a:r>
            <a:r>
              <a:rPr lang="en-US" sz="2000" b="1" dirty="0">
                <a:solidFill>
                  <a:srgbClr val="F5F6F8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000" b="1" dirty="0" err="1">
                <a:solidFill>
                  <a:srgbClr val="F5F6F8"/>
                </a:solidFill>
                <a:latin typeface="Arial"/>
                <a:ea typeface="+mn-lt"/>
                <a:cs typeface="Arial"/>
              </a:rPr>
              <a:t>комбинације</a:t>
            </a:r>
            <a:r>
              <a:rPr lang="en-US" sz="2000" b="1" dirty="0">
                <a:solidFill>
                  <a:srgbClr val="F5F6F8"/>
                </a:solidFill>
                <a:latin typeface="Arial"/>
                <a:ea typeface="+mn-lt"/>
                <a:cs typeface="Arial"/>
              </a:rPr>
              <a:t> с </a:t>
            </a:r>
            <a:r>
              <a:rPr lang="en-US" sz="2000" b="1" dirty="0" err="1">
                <a:solidFill>
                  <a:srgbClr val="F5F6F8"/>
                </a:solidFill>
                <a:latin typeface="Arial"/>
                <a:ea typeface="+mn-lt"/>
                <a:cs typeface="Arial"/>
              </a:rPr>
              <a:t>додатним</a:t>
            </a:r>
            <a:r>
              <a:rPr lang="en-US" sz="2000" b="1" dirty="0">
                <a:solidFill>
                  <a:srgbClr val="F5F6F8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2000" b="1" dirty="0" err="1">
                <a:solidFill>
                  <a:srgbClr val="F5F6F8"/>
                </a:solidFill>
                <a:latin typeface="Arial"/>
                <a:ea typeface="+mn-lt"/>
                <a:cs typeface="Arial"/>
              </a:rPr>
              <a:t>методама</a:t>
            </a:r>
            <a:endParaRPr sz="2600" b="1" i="0">
              <a:solidFill>
                <a:srgbClr val="F5F6F8"/>
              </a:solidFill>
              <a:latin typeface="Arial"/>
              <a:ea typeface="+mn-lt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lip_cheat_loop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692" y="411480"/>
            <a:ext cx="4240136" cy="6035040"/>
          </a:xfrm>
          <a:prstGeom prst="rect">
            <a:avLst/>
          </a:prstGeom>
        </p:spPr>
      </p:pic>
      <p:pic>
        <p:nvPicPr>
          <p:cNvPr id="4" name="Picture 3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965960"/>
            <a:ext cx="21031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43434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9CA3AF"/>
                </a:solidFill>
                <a:latin typeface="Arial"/>
              </a:rPr>
              <a:t>гледај поново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1078992"/>
            <a:ext cx="274320" cy="274320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058400" cy="570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dirty="0">
                <a:solidFill>
                  <a:srgbClr val="F5F6F8"/>
                </a:solidFill>
                <a:latin typeface="Arial"/>
              </a:rPr>
              <a:t>Систематска </a:t>
            </a:r>
            <a:r>
              <a:rPr sz="3400" b="1" i="0" dirty="0" err="1">
                <a:solidFill>
                  <a:srgbClr val="F5F6F8"/>
                </a:solidFill>
                <a:latin typeface="Arial"/>
              </a:rPr>
              <a:t>студија</a:t>
            </a:r>
            <a:r>
              <a:rPr sz="3400" b="1" i="0">
                <a:solidFill>
                  <a:srgbClr val="F5F6F8"/>
                </a:solidFill>
                <a:latin typeface="Arial"/>
              </a:rPr>
              <a:t> ACT и Diffusion Policy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313432"/>
            <a:ext cx="274320" cy="274320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2148840"/>
            <a:ext cx="10058400" cy="570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dirty="0">
                <a:solidFill>
                  <a:srgbClr val="F5F6F8"/>
                </a:solidFill>
                <a:latin typeface="Arial"/>
              </a:rPr>
              <a:t>Поређење </a:t>
            </a:r>
            <a:r>
              <a:rPr sz="3400" b="1" i="0" dirty="0" err="1">
                <a:solidFill>
                  <a:srgbClr val="F5F6F8"/>
                </a:solidFill>
                <a:latin typeface="Arial"/>
              </a:rPr>
              <a:t>скалабилности</a:t>
            </a:r>
            <a:r>
              <a:rPr sz="34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sz="3400" b="1" i="0" dirty="0" err="1">
                <a:solidFill>
                  <a:srgbClr val="F5F6F8"/>
                </a:solidFill>
                <a:latin typeface="Arial"/>
              </a:rPr>
              <a:t>две</a:t>
            </a:r>
            <a:r>
              <a:rPr sz="34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sz="3400" b="1" i="0" dirty="0" err="1">
                <a:solidFill>
                  <a:srgbClr val="F5F6F8"/>
                </a:solidFill>
                <a:latin typeface="Arial"/>
              </a:rPr>
              <a:t>архитектуре</a:t>
            </a:r>
            <a:endParaRPr lang="en-US" sz="3400" b="1" i="0" dirty="0" err="1">
              <a:solidFill>
                <a:srgbClr val="F5F6F8"/>
              </a:solidFill>
              <a:latin typeface="Arial"/>
              <a:cs typeface="Arial"/>
            </a:endParaRPr>
          </a:p>
        </p:txBody>
      </p:sp>
      <p:sp>
        <p:nvSpPr>
          <p:cNvPr id="7" name="Oval 6"/>
          <p:cNvSpPr/>
          <p:nvPr/>
        </p:nvSpPr>
        <p:spPr>
          <a:xfrm>
            <a:off x="777240" y="3547872"/>
            <a:ext cx="274320" cy="274320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3383280"/>
            <a:ext cx="10058400" cy="570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3400" b="1" i="0" dirty="0" err="1">
                <a:solidFill>
                  <a:srgbClr val="F5F6F8"/>
                </a:solidFill>
                <a:latin typeface="Arial"/>
              </a:rPr>
              <a:t>Карактеризација</a:t>
            </a:r>
            <a:r>
              <a:rPr sz="3400" b="1" i="0" dirty="0">
                <a:solidFill>
                  <a:srgbClr val="F5F6F8"/>
                </a:solidFill>
                <a:latin typeface="Arial"/>
              </a:rPr>
              <a:t> </a:t>
            </a:r>
            <a:r>
              <a:rPr lang="az-Cyrl-AZ" sz="3400" b="1" dirty="0">
                <a:solidFill>
                  <a:srgbClr val="F5F6F8"/>
                </a:solidFill>
                <a:latin typeface="Arial"/>
              </a:rPr>
              <a:t>плафона перформанси</a:t>
            </a:r>
            <a:endParaRPr lang="en-US" sz="3400" b="1" i="0" dirty="0">
              <a:solidFill>
                <a:srgbClr val="F5F6F8"/>
              </a:solidFill>
              <a:latin typeface="Arial"/>
              <a:cs typeface="Arial"/>
            </a:endParaRPr>
          </a:p>
        </p:txBody>
      </p:sp>
      <p:pic>
        <p:nvPicPr>
          <p:cNvPr id="9" name="Picture 8" descr="symbol_ring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5600700"/>
            <a:ext cx="777240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11680" y="562356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7A45"/>
                </a:solidFill>
                <a:latin typeface="Arial"/>
              </a:rPr>
              <a:t>ГРАНИЦА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19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72</cp:revision>
  <dcterms:created xsi:type="dcterms:W3CDTF">2013-01-27T09:14:16Z</dcterms:created>
  <dcterms:modified xsi:type="dcterms:W3CDTF">2026-07-13T23:44:41Z</dcterms:modified>
  <cp:category/>
</cp:coreProperties>
</file>